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 Model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Assignment–2 | AD25C01 –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SRM TRP Engineering College, Tiruchirappalli</a:t>
            </a:r>
          </a:p>
          <a:p>
            <a:pPr>
              <a:spcAft>
                <a:spcPts val="1400"/>
              </a:spcAft>
              <a:defRPr sz="2200"/>
            </a:pPr>
            <a:r>
              <a:t>Department of Artificial Intelligence and Data Science</a:t>
            </a:r>
          </a:p>
          <a:p>
            <a:pPr>
              <a:spcAft>
                <a:spcPts val="1400"/>
              </a:spcAft>
              <a:defRPr sz="2200"/>
            </a:pPr>
            <a:r>
              <a:t>Project: Online Shopping Purchase Prediction</a:t>
            </a:r>
          </a:p>
          <a:p>
            <a:pPr>
              <a:spcAft>
                <a:spcPts val="1400"/>
              </a:spcAft>
              <a:defRPr sz="2200"/>
            </a:pPr>
            <a:r>
              <a:t>Team 6 | Academic Year 2026–2027</a:t>
            </a:r>
          </a:p>
          <a:p>
            <a:pPr>
              <a:spcAft>
                <a:spcPts val="1400"/>
              </a:spcAft>
              <a:defRPr sz="2200"/>
            </a:pPr>
            <a:r>
              <a:t>Faculty: V. Ezhil Swanly,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Objective: predict whether an online browsing session generates revenue.</a:t>
            </a:r>
          </a:p>
          <a:p>
            <a:pPr>
              <a:spcAft>
                <a:spcPts val="1400"/>
              </a:spcAft>
              <a:defRPr sz="2200"/>
            </a:pPr>
            <a:r>
              <a:t>Target variable: Revenue (1 = purchase/revenue; 0 = no revenue).</a:t>
            </a:r>
          </a:p>
          <a:p>
            <a:pPr>
              <a:spcAft>
                <a:spcPts val="1400"/>
              </a:spcAft>
              <a:defRPr sz="2200"/>
            </a:pPr>
            <a:r>
              <a:t>Type: supervised binary classification.</a:t>
            </a:r>
          </a:p>
          <a:p>
            <a:pPr>
              <a:spcAft>
                <a:spcPts val="1400"/>
              </a:spcAft>
              <a:defRPr sz="2200"/>
            </a:pPr>
            <a:r>
              <a:t>Use: support e-commerce analysis and understand purchase-related browsing behaviour.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9,864 records and 27 columns in the supplied cleaned sheet.</a:t>
            </a:r>
          </a:p>
          <a:p>
            <a:pPr>
              <a:spcAft>
                <a:spcPts val="1400"/>
              </a:spcAft>
              <a:defRPr sz="2000"/>
            </a:pPr>
            <a:r>
              <a:t>26 predictor features and one target variable (Revenue).</a:t>
            </a:r>
          </a:p>
          <a:p>
            <a:pPr>
              <a:spcAft>
                <a:spcPts val="1400"/>
              </a:spcAft>
              <a:defRPr sz="2000"/>
            </a:pPr>
            <a:r>
              <a:t>Target distribution: 8,288 no-revenue sessions; 1,576 revenue sessions.</a:t>
            </a:r>
          </a:p>
          <a:p>
            <a:pPr>
              <a:spcAft>
                <a:spcPts val="1400"/>
              </a:spcAft>
              <a:defRPr sz="2000"/>
            </a:pPr>
            <a:r>
              <a:t>Data quality report: 0 missing cells and 0 duplicate rows after cleaning.</a:t>
            </a:r>
          </a:p>
          <a:p>
            <a:pPr>
              <a:spcAft>
                <a:spcPts val="1400"/>
              </a:spcAft>
              <a:defRPr sz="2000"/>
            </a:pPr>
            <a:r>
              <a:t>Existing numeric scaling and encoded values were preserved.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Separated Revenue as y and all other columns as X.</a:t>
            </a:r>
          </a:p>
          <a:p>
            <a:pPr>
              <a:spcAft>
                <a:spcPts val="1400"/>
              </a:spcAft>
              <a:defRPr sz="2000"/>
            </a:pPr>
            <a:r>
              <a:t>Stratified train-test split: 80% training and 20% testing.</a:t>
            </a:r>
          </a:p>
          <a:p>
            <a:pPr>
              <a:spcAft>
                <a:spcPts val="1400"/>
              </a:spcAft>
              <a:defRPr sz="2000"/>
            </a:pPr>
            <a:r>
              <a:t>Training set: 7,891 rows; test set: 1,973 rows.</a:t>
            </a:r>
          </a:p>
          <a:p>
            <a:pPr>
              <a:spcAft>
                <a:spcPts val="1400"/>
              </a:spcAft>
              <a:defRPr sz="2000"/>
            </a:pPr>
            <a:r>
              <a:t>Random state = 42 for reproducibility.</a:t>
            </a:r>
          </a:p>
          <a:p>
            <a:pPr>
              <a:spcAft>
                <a:spcPts val="1400"/>
              </a:spcAft>
              <a:defRPr sz="2000"/>
            </a:pPr>
            <a:r>
              <a:t>Class weighting used to address the minority purchase class.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Models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Logistic Regression: interpretable linear classification baseline.</a:t>
            </a:r>
          </a:p>
          <a:p>
            <a:pPr>
              <a:spcAft>
                <a:spcPts val="1400"/>
              </a:spcAft>
              <a:defRPr sz="2200"/>
            </a:pPr>
            <a:r>
              <a:t>Decision Tree: rule-based model with constrained depth and leaf size.</a:t>
            </a:r>
          </a:p>
          <a:p>
            <a:pPr>
              <a:spcAft>
                <a:spcPts val="1400"/>
              </a:spcAft>
              <a:defRPr sz="2200"/>
            </a:pPr>
            <a:r>
              <a:t>Random Forest: ensemble of 250 decision trees.</a:t>
            </a:r>
          </a:p>
          <a:p>
            <a:pPr>
              <a:spcAft>
                <a:spcPts val="1400"/>
              </a:spcAft>
              <a:defRPr sz="2200"/>
            </a:pPr>
            <a:r>
              <a:t>All models evaluated on the same held-out test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Accuracy: overall fraction of correct predictions.</a:t>
            </a:r>
          </a:p>
          <a:p>
            <a:pPr>
              <a:spcAft>
                <a:spcPts val="1400"/>
              </a:spcAft>
              <a:defRPr sz="1800"/>
            </a:pPr>
            <a:r>
              <a:t>Precision: reliability of predicted purchase sessions.</a:t>
            </a:r>
          </a:p>
          <a:p>
            <a:pPr>
              <a:spcAft>
                <a:spcPts val="1400"/>
              </a:spcAft>
              <a:defRPr sz="1800"/>
            </a:pPr>
            <a:r>
              <a:t>Recall: fraction of actual purchase sessions detected.</a:t>
            </a:r>
          </a:p>
          <a:p>
            <a:pPr>
              <a:spcAft>
                <a:spcPts val="1400"/>
              </a:spcAft>
              <a:defRPr sz="1800"/>
            </a:pPr>
            <a:r>
              <a:t>F1-score: balance between precision and recall.</a:t>
            </a:r>
          </a:p>
          <a:p>
            <a:pPr>
              <a:spcAft>
                <a:spcPts val="1400"/>
              </a:spcAft>
              <a:defRPr sz="1800"/>
            </a:pPr>
            <a:r>
              <a:t>ROC-AUC: ability to rank purchase sessions above non-purchase sessions.</a:t>
            </a:r>
          </a:p>
          <a:p>
            <a:pPr>
              <a:spcAft>
                <a:spcPts val="1400"/>
              </a:spcAft>
              <a:defRPr sz="1800"/>
            </a:pPr>
            <a:r>
              <a:t>Confusion matrix and ROC curve provide additional diagnostic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Best by F1-score, with ROC-AUC as tie-breaker: Logistic Regression.</a:t>
            </a:r>
          </a:p>
          <a:p>
            <a:pPr>
              <a:spcAft>
                <a:spcPts val="1400"/>
              </a:spcAft>
              <a:defRPr sz="2000"/>
            </a:pPr>
            <a:r>
              <a:t>Accuracy: 0.7182</a:t>
            </a:r>
          </a:p>
          <a:p>
            <a:pPr>
              <a:spcAft>
                <a:spcPts val="1400"/>
              </a:spcAft>
              <a:defRPr sz="2000"/>
            </a:pPr>
            <a:r>
              <a:t>Precision: 0.2995</a:t>
            </a:r>
          </a:p>
          <a:p>
            <a:pPr>
              <a:spcAft>
                <a:spcPts val="1400"/>
              </a:spcAft>
              <a:defRPr sz="2000"/>
            </a:pPr>
            <a:r>
              <a:t>Recall: 0.5714</a:t>
            </a:r>
          </a:p>
          <a:p>
            <a:pPr>
              <a:spcAft>
                <a:spcPts val="1400"/>
              </a:spcAft>
              <a:defRPr sz="2000"/>
            </a:pPr>
            <a:r>
              <a:t>F1-score: 0.3930</a:t>
            </a:r>
          </a:p>
          <a:p>
            <a:pPr>
              <a:spcAft>
                <a:spcPts val="1400"/>
              </a:spcAft>
              <a:defRPr sz="2000"/>
            </a:pPr>
            <a:r>
              <a:t>ROC-AUC: 0.7223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Performance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Figure: all models are compared using held-out test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Figure: test-set confusion matrix for Logistic Regression.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ROC Curve</a:t>
            </a:r>
          </a:p>
        </p:txBody>
      </p:sp>
      <p:pic>
        <p:nvPicPr>
          <p:cNvPr id="3" name="Picture 2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Figure: ROC curve for Logistic Regression.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Permutation importance shows how test F1 changes when a feature is shuffled.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Logistic Regression is the recommended model under the selected F1-score-first criterion.</a:t>
            </a:r>
          </a:p>
          <a:p>
            <a:pPr>
              <a:spcAft>
                <a:spcPts val="1400"/>
              </a:spcAft>
              <a:defRPr sz="1700"/>
            </a:pPr>
            <a:r>
              <a:t>The target is imbalanced; accuracy alone can be misleading.</a:t>
            </a:r>
          </a:p>
          <a:p>
            <a:pPr>
              <a:spcAft>
                <a:spcPts val="1400"/>
              </a:spcAft>
              <a:defRPr sz="1700"/>
            </a:pPr>
            <a:r>
              <a:t>Top permutation feature: ProductRelated_Duration. This is association, not causation.</a:t>
            </a:r>
          </a:p>
          <a:p>
            <a:pPr>
              <a:spcAft>
                <a:spcPts val="1400"/>
              </a:spcAft>
              <a:defRPr sz="1700"/>
            </a:pPr>
            <a:r>
              <a:t>Limitations: one split, pre-encoded/scaled data, and no external validation dataset.</a:t>
            </a:r>
          </a:p>
          <a:p>
            <a:pPr>
              <a:spcAft>
                <a:spcPts val="1400"/>
              </a:spcAft>
              <a:defRPr sz="1700"/>
            </a:pPr>
            <a:r>
              <a:t>Future work: cross-validation, hyperparameter tuning, threshold calibration, drift checks, and independent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